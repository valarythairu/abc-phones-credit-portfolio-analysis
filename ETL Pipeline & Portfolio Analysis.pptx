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Space Grotesk Medium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D52281-4A6C-4473-8308-63D54760316C}">
  <a:tblStyle styleId="{8ED52281-4A6C-4473-8308-63D5476031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GroteskMedium-bold.fntdata"/><Relationship Id="rId25" Type="http://schemas.openxmlformats.org/officeDocument/2006/relationships/font" Target="fonts/SpaceGroteskMedium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regular.fntdata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483965"/>
            <a:ext cx="90011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ETL Pipeline Design &amp; Portfolio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427065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Inter Medium"/>
                <a:ea typeface="Inter Medium"/>
                <a:cs typeface="Inter Medium"/>
                <a:sym typeface="Inter Medium"/>
              </a:rPr>
              <a:t>ABC PHONES CREDIT INTELLIGENCE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234755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653855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engineering review of pipeline reliability, data quality frameworks, and strategic portfolio health metrics for the 2025 fiscal period.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9280"/>
            <a:ext cx="3492549" cy="3362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39280"/>
            <a:ext cx="3492549" cy="3362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39280"/>
            <a:ext cx="3492549" cy="33621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66775" y="336798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Ingestion Strategy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863280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Leveraged a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Full-Load strategy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combined with pre-ingestion profiling in Jupyter Notebooks to ensure seamless production transitions.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5074" y="336798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Freshness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5074" y="3863280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Pipeline executes on a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Weekly schedule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triggered by raw data delivery from external stakeholders and mobile retailers.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3374" y="336798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Handling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3374" y="3863280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Implemented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Selective Deduplication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based on dataset schemas to preserve audit trails while maintaining unique record integrity.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7265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7265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7265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Core Engineering Decisions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1544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2185292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Cleaning &amp; Standardization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644680"/>
            <a:ext cx="52389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Integrated multi-source raw data into a consolidated schema using standardized transformation routines. The credit data dataset was enriched with the following derived attributes to support downstream modeling:</a:t>
            </a:r>
            <a:endParaRPr sz="13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2496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333500" y="3986063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risk_category: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Predictive risk classification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333500" y="4450853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age_band: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Segmented demographic buckets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333500" y="4915644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income_band: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Monthly average income bands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333500" y="5380434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temporal: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Standardized month/date logic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02892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4937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95850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5423296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Transformation &amp; Feature Engineering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1172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2124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381750" y="237842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Output Design (Delta Tables)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287372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Standardized integration into three query-ready tables: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828133"/>
            <a:ext cx="523875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143750" y="3338512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cleaned_sales_and_customer_data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143750" y="3803302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credit_customer_data_transformed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143750" y="4268092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survey_customer_data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3381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384616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431095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Curated Gold Layer &amp; Access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3492549" cy="3087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6500"/>
            <a:ext cx="3492549" cy="3087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6500"/>
            <a:ext cx="3492549" cy="308788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66775" y="35052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Validation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6775" y="4000500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Confirmation of ingestion, transformation, and storage at every stage of the pipeline execution.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45074" y="35052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Instant Alerting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4645074" y="400050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Immediate email notifications to Data Engineers if any stage or source file fails to process.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423374" y="35052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Quarantine Checks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423374" y="4000500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Integrated checks detect and isolate previously unnoticed data inconsistencies before they reach Gold.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098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098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09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Monitoring &amp; Quality Framework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2000" y="1078110"/>
            <a:ext cx="5000625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Integrity &amp; Freshness Audit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078110"/>
            <a:ext cx="47625" cy="971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571500" y="269736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Freshness Failure: 128 Days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333553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Latest portfolio snapshot is significantly outdated (2025-12-30).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4227016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All risk metrics and business decisions are currently based on 4-month-old data, creating substantial exposure.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328046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Referential Gaps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5966221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Anomaly: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0.45% of survey responses cannot link to credit records. These "orphan" records prevent correlation of satisfaction with credit behavior.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3122"/>
            <a:ext cx="11049000" cy="427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1883122"/>
            <a:ext cx="38004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2D3EE"/>
                </a:solidFill>
                <a:latin typeface="Space Grotesk"/>
                <a:ea typeface="Space Grotesk"/>
                <a:cs typeface="Space Grotesk"/>
                <a:sym typeface="Space Grotesk"/>
              </a:rPr>
              <a:t>38.1%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254722"/>
            <a:ext cx="3800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Delinquency Rate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4191892"/>
            <a:ext cx="38004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41.5%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563492"/>
            <a:ext cx="3800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Loss Rate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Portfolio Performance Metrics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793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229463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Finding: Age-Linked Risk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2789932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reveals a massive disparity in delinquency based on customer age bands: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5292923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Strategic Shift: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Vetting logic for older demographics requires immediate revision to mitigate portfolio losses.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745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333500" y="3624262"/>
            <a:ext cx="4476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55+ Age Band: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Primary source of risk with delinquency exceeding 40%.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333500" y="4363342"/>
            <a:ext cx="4476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18-35 Bands: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Negligible delinquency and stable credit health.</a:t>
            </a:r>
            <a:endParaRPr/>
          </a:p>
        </p:txBody>
      </p:sp>
      <p:pic>
        <p:nvPicPr>
          <p:cNvPr descr="image.png" id="201" name="Google Shape;2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667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40620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Demographic Risk Analysis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71500" y="252025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Non-Responder Profile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3158430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17,000+ customers who did not respond to surveys represent the most vulnerable segment: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62750" y="2253555"/>
            <a:ext cx="4857750" cy="353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ABC Phones must pivot from aggressive collections to proactive 'health-check' outreach via SMS before customers hit 30 days past due.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6381750" y="2253555"/>
            <a:ext cx="95250" cy="3533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857250" y="42204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1333500" y="4221360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40.59%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Delinquency Rate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57250" y="46851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333500" y="4686151"/>
            <a:ext cx="4476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120 Days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Average Past Due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"Silent Majority" Strategy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5445323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Establishing a data governance framework is the critical next step for 2026.</a:t>
            </a:r>
            <a:endParaRPr/>
          </a:p>
        </p:txBody>
      </p:sp>
      <p:graphicFrame>
        <p:nvGraphicFramePr>
          <p:cNvPr id="226" name="Google Shape;226;p22"/>
          <p:cNvGraphicFramePr/>
          <p:nvPr/>
        </p:nvGraphicFramePr>
        <p:xfrm>
          <a:off x="571500" y="21496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{8ED52281-4A6C-4473-8308-63D54760316C}</a:tableStyleId>
              </a:tblPr>
              <a:tblGrid>
                <a:gridCol w="1802000"/>
                <a:gridCol w="3340900"/>
                <a:gridCol w="5906100"/>
              </a:tblGrid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Domain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Objective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 Item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D3EE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Enrichment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Predict Repayment Capacity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Add Employment details &amp; Job stability metrics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Geospatial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Risk Pattern Mapping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Standardize Customer Location data (Urban vs. Rural)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Governance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Quality Standardisation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Unified Date Formats &amp; Account Status definitions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Granularity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Behavioral Analysis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 transaction-level Payment History tracking</a:t>
                      </a:r>
                      <a:endParaRPr>
                        <a:solidFill>
                          <a:srgbClr val="0F172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2"/>
          <p:cNvSpPr/>
          <p:nvPr/>
        </p:nvSpPr>
        <p:spPr>
          <a:xfrm>
            <a:off x="571500" y="2711648"/>
            <a:ext cx="180201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2373510" y="2711648"/>
            <a:ext cx="3340893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714404" y="2711648"/>
            <a:ext cx="5906095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3306960"/>
            <a:ext cx="18020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2373510" y="3306960"/>
            <a:ext cx="3340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4404" y="3306960"/>
            <a:ext cx="590609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3887985"/>
            <a:ext cx="18020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373510" y="3887985"/>
            <a:ext cx="3340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4404" y="3887985"/>
            <a:ext cx="590609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4469010"/>
            <a:ext cx="18020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373510" y="4469010"/>
            <a:ext cx="3340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714404" y="4469010"/>
            <a:ext cx="590609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71500" y="5050035"/>
            <a:ext cx="180201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373510" y="5050035"/>
            <a:ext cx="33408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714404" y="5050035"/>
            <a:ext cx="590609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762000" y="88761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2D3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Roadmap &amp; Future Roadmap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71500" y="887610"/>
            <a:ext cx="47625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